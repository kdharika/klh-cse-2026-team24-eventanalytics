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8/17/2026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C2612-2B62-4959-89FE-9A424AC3869A}"/>
              </a:ext>
            </a:extLst>
          </p:cNvPr>
          <p:cNvSpPr>
            <a:spLocks noGrp="1"/>
          </p:cNvSpPr>
          <p:nvPr>
            <p:ph type="ctrTitle"/>
          </p:nvPr>
        </p:nvSpPr>
        <p:spPr>
          <a:xfrm>
            <a:off x="0" y="-6337"/>
            <a:ext cx="12191999" cy="3631095"/>
          </a:xfrm>
        </p:spPr>
        <p:txBody>
          <a:bodyPr anchor="ctr">
            <a:normAutofit/>
          </a:bodyPr>
          <a:lstStyle/>
          <a:p>
            <a:pPr algn="ctr"/>
            <a:r>
              <a:rPr lang="en-US" sz="1400" dirty="0">
                <a:solidFill>
                  <a:srgbClr val="00B0F0"/>
                </a:solidFill>
                <a:latin typeface="Arial" panose="020B0604020202020204" pitchFamily="34" charset="0"/>
                <a:cs typeface="Arial" panose="020B0604020202020204" pitchFamily="34" charset="0"/>
              </a:rPr>
              <a:t>Department of Computer Science and Engineering</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2400" b="1" dirty="0">
                <a:latin typeface="Arial" panose="020B0604020202020204" pitchFamily="34" charset="0"/>
                <a:cs typeface="Arial" panose="020B0604020202020204" pitchFamily="34" charset="0"/>
              </a:rPr>
              <a:t>UNIVERSITY EVENT ANALYTICS PLATFORM</a:t>
            </a:r>
            <a:br>
              <a:rPr lang="en-US" sz="1600" b="1" dirty="0">
                <a:latin typeface="Arial" panose="020B0604020202020204" pitchFamily="34" charset="0"/>
                <a:cs typeface="Arial" panose="020B0604020202020204" pitchFamily="34" charset="0"/>
              </a:rPr>
            </a:br>
            <a:br>
              <a:rPr lang="en-US" sz="1600" b="1"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Review-1</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endParaRPr lang="en-IN" sz="16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AD7D28E-8C87-4F8A-B13B-C57C3B2073F2}"/>
              </a:ext>
            </a:extLst>
          </p:cNvPr>
          <p:cNvSpPr>
            <a:spLocks noGrp="1"/>
          </p:cNvSpPr>
          <p:nvPr>
            <p:ph type="subTitle" idx="1"/>
          </p:nvPr>
        </p:nvSpPr>
        <p:spPr>
          <a:xfrm>
            <a:off x="4041914" y="6320998"/>
            <a:ext cx="4452730" cy="537002"/>
          </a:xfrm>
        </p:spPr>
        <p:txBody>
          <a:bodyPr>
            <a:normAutofit/>
          </a:bodyPr>
          <a:lstStyle/>
          <a:p>
            <a:r>
              <a:rPr lang="en-IN" sz="1400" b="1" dirty="0">
                <a:solidFill>
                  <a:schemeClr val="tx1"/>
                </a:solidFill>
                <a:latin typeface="Arial" panose="020B0604020202020204" pitchFamily="34" charset="0"/>
                <a:cs typeface="Arial" panose="020B0604020202020204" pitchFamily="34" charset="0"/>
              </a:rPr>
              <a:t>Koneru Lakshmaiah Education Foundation</a:t>
            </a:r>
          </a:p>
        </p:txBody>
      </p:sp>
      <p:sp>
        <p:nvSpPr>
          <p:cNvPr id="7" name="TextBox 6">
            <a:extLst>
              <a:ext uri="{FF2B5EF4-FFF2-40B4-BE49-F238E27FC236}">
                <a16:creationId xmlns:a16="http://schemas.microsoft.com/office/drawing/2014/main" id="{4C3FD348-4F65-44F6-9406-A445B50A168E}"/>
              </a:ext>
            </a:extLst>
          </p:cNvPr>
          <p:cNvSpPr txBox="1"/>
          <p:nvPr/>
        </p:nvSpPr>
        <p:spPr>
          <a:xfrm>
            <a:off x="3511826" y="2266122"/>
            <a:ext cx="5287617" cy="1384995"/>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Team Number:24</a:t>
            </a:r>
            <a:endParaRPr lang="en-IN"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N</a:t>
            </a:r>
            <a:r>
              <a:rPr lang="en-IN" sz="1400" dirty="0">
                <a:latin typeface="Arial" panose="020B0604020202020204" pitchFamily="34" charset="0"/>
                <a:cs typeface="Arial" panose="020B0604020202020204" pitchFamily="34" charset="0"/>
              </a:rPr>
              <a:t>ame:                                                               Roll Number:</a:t>
            </a:r>
          </a:p>
          <a:p>
            <a:r>
              <a:rPr lang="en-US" sz="1400" dirty="0">
                <a:latin typeface="Arial" panose="020B0604020202020204" pitchFamily="34" charset="0"/>
                <a:cs typeface="Arial" panose="020B0604020202020204" pitchFamily="34" charset="0"/>
              </a:rPr>
              <a:t>K</a:t>
            </a:r>
            <a:r>
              <a:rPr lang="en-IN" sz="1400" dirty="0">
                <a:latin typeface="Arial" panose="020B0604020202020204" pitchFamily="34" charset="0"/>
                <a:cs typeface="Arial" panose="020B0604020202020204" pitchFamily="34" charset="0"/>
              </a:rPr>
              <a:t> Dharani Harika                                              2420030304</a:t>
            </a:r>
          </a:p>
          <a:p>
            <a:r>
              <a:rPr lang="en-US" sz="1400" dirty="0">
                <a:latin typeface="Arial" panose="020B0604020202020204" pitchFamily="34" charset="0"/>
                <a:cs typeface="Arial" panose="020B0604020202020204" pitchFamily="34" charset="0"/>
              </a:rPr>
              <a:t>T</a:t>
            </a:r>
            <a:r>
              <a:rPr lang="en-IN" sz="1400" dirty="0">
                <a:latin typeface="Arial" panose="020B0604020202020204" pitchFamily="34" charset="0"/>
                <a:cs typeface="Arial" panose="020B0604020202020204" pitchFamily="34" charset="0"/>
              </a:rPr>
              <a:t> Lasya Priya                                                   2420030258</a:t>
            </a:r>
          </a:p>
          <a:p>
            <a:r>
              <a:rPr lang="en-US" sz="1400" dirty="0">
                <a:latin typeface="Arial" panose="020B0604020202020204" pitchFamily="34" charset="0"/>
                <a:cs typeface="Arial" panose="020B0604020202020204" pitchFamily="34" charset="0"/>
              </a:rPr>
              <a:t>V</a:t>
            </a:r>
            <a:r>
              <a:rPr lang="en-IN" sz="1400" dirty="0">
                <a:latin typeface="Arial" panose="020B0604020202020204" pitchFamily="34" charset="0"/>
                <a:cs typeface="Arial" panose="020B0604020202020204" pitchFamily="34" charset="0"/>
              </a:rPr>
              <a:t> Durga                                                            2420030184</a:t>
            </a:r>
            <a:endParaRPr lang="en-US" sz="14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77265E3-F867-4329-9F1D-61CF9EEA5414}"/>
              </a:ext>
            </a:extLst>
          </p:cNvPr>
          <p:cNvPicPr>
            <a:picLocks noChangeAspect="1"/>
          </p:cNvPicPr>
          <p:nvPr/>
        </p:nvPicPr>
        <p:blipFill>
          <a:blip r:embed="rId2"/>
          <a:stretch>
            <a:fillRect/>
          </a:stretch>
        </p:blipFill>
        <p:spPr>
          <a:xfrm>
            <a:off x="3452191" y="4915981"/>
            <a:ext cx="5287616" cy="1384995"/>
          </a:xfrm>
          <a:prstGeom prst="rect">
            <a:avLst/>
          </a:prstGeom>
        </p:spPr>
      </p:pic>
      <p:sp>
        <p:nvSpPr>
          <p:cNvPr id="10" name="TextBox 9">
            <a:extLst>
              <a:ext uri="{FF2B5EF4-FFF2-40B4-BE49-F238E27FC236}">
                <a16:creationId xmlns:a16="http://schemas.microsoft.com/office/drawing/2014/main" id="{D74E9D70-4008-40F8-BB9C-C5B1018D580D}"/>
              </a:ext>
            </a:extLst>
          </p:cNvPr>
          <p:cNvSpPr txBox="1"/>
          <p:nvPr/>
        </p:nvSpPr>
        <p:spPr>
          <a:xfrm>
            <a:off x="3452191" y="3671139"/>
            <a:ext cx="5042453" cy="923330"/>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Under the guidance of:</a:t>
            </a: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Dr.N. Sirisha</a:t>
            </a:r>
          </a:p>
          <a:p>
            <a:pPr algn="ctr"/>
            <a:r>
              <a:rPr lang="en-US" dirty="0">
                <a:solidFill>
                  <a:srgbClr val="C00000"/>
                </a:solidFill>
                <a:latin typeface="Arial" panose="020B0604020202020204" pitchFamily="34" charset="0"/>
                <a:cs typeface="Arial" panose="020B0604020202020204" pitchFamily="34" charset="0"/>
              </a:rPr>
              <a:t>Associate Professor</a:t>
            </a:r>
            <a:endParaRPr lang="en-IN"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4612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D981-F596-480D-B2F5-F58F11A24D6C}"/>
              </a:ext>
            </a:extLst>
          </p:cNvPr>
          <p:cNvSpPr>
            <a:spLocks noGrp="1"/>
          </p:cNvSpPr>
          <p:nvPr>
            <p:ph type="title"/>
          </p:nvPr>
        </p:nvSpPr>
        <p:spPr/>
        <p:txBody>
          <a:bodyPr>
            <a:normAutofit/>
          </a:bodyPr>
          <a:lstStyle/>
          <a:p>
            <a:r>
              <a:rPr lang="en-US" sz="2400" b="1" u="sng" dirty="0">
                <a:latin typeface="Arial" panose="020B0604020202020204" pitchFamily="34" charset="0"/>
                <a:cs typeface="Arial" panose="020B0604020202020204" pitchFamily="34" charset="0"/>
              </a:rPr>
              <a:t>OUTLINE:</a:t>
            </a:r>
            <a:endParaRPr lang="en-IN" sz="2400" b="1" u="sng"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77F8050-FB7A-4E1F-888B-B22E07BEC3F6}"/>
              </a:ext>
            </a:extLst>
          </p:cNvPr>
          <p:cNvSpPr>
            <a:spLocks noGrp="1"/>
          </p:cNvSpPr>
          <p:nvPr>
            <p:ph idx="1"/>
          </p:nvPr>
        </p:nvSpPr>
        <p:spPr/>
        <p:txBody>
          <a:bodyPr>
            <a:normAutofit/>
          </a:bodyPr>
          <a:lstStyle/>
          <a:p>
            <a:r>
              <a:rPr lang="en-US" dirty="0">
                <a:latin typeface="Arial" panose="020B0604020202020204" pitchFamily="34" charset="0"/>
                <a:cs typeface="Arial" panose="020B0604020202020204" pitchFamily="34" charset="0"/>
              </a:rPr>
              <a:t>Abstract</a:t>
            </a:r>
          </a:p>
          <a:p>
            <a:r>
              <a:rPr lang="en-US" dirty="0">
                <a:latin typeface="Arial" panose="020B0604020202020204" pitchFamily="34" charset="0"/>
                <a:cs typeface="Arial" panose="020B0604020202020204" pitchFamily="34" charset="0"/>
              </a:rPr>
              <a:t>Introduction</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4121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608C9-2336-4560-8ED5-4EA019AAB5D7}"/>
              </a:ext>
            </a:extLst>
          </p:cNvPr>
          <p:cNvSpPr>
            <a:spLocks noGrp="1"/>
          </p:cNvSpPr>
          <p:nvPr>
            <p:ph type="title"/>
          </p:nvPr>
        </p:nvSpPr>
        <p:spPr/>
        <p:txBody>
          <a:bodyPr>
            <a:normAutofit/>
          </a:bodyPr>
          <a:lstStyle/>
          <a:p>
            <a:r>
              <a:rPr lang="en-US" sz="2400" b="1" u="sng" dirty="0"/>
              <a:t>ABSTRACT:</a:t>
            </a:r>
            <a:endParaRPr lang="en-IN" sz="2400" b="1" u="sng" dirty="0"/>
          </a:p>
        </p:txBody>
      </p:sp>
      <p:sp>
        <p:nvSpPr>
          <p:cNvPr id="3" name="Content Placeholder 2">
            <a:extLst>
              <a:ext uri="{FF2B5EF4-FFF2-40B4-BE49-F238E27FC236}">
                <a16:creationId xmlns:a16="http://schemas.microsoft.com/office/drawing/2014/main" id="{6FEE9F5C-7707-427D-A7E7-AA5A0AE5FBD9}"/>
              </a:ext>
            </a:extLst>
          </p:cNvPr>
          <p:cNvSpPr>
            <a:spLocks noGrp="1"/>
          </p:cNvSpPr>
          <p:nvPr>
            <p:ph idx="1"/>
          </p:nvPr>
        </p:nvSpPr>
        <p:spPr>
          <a:xfrm>
            <a:off x="2589212" y="1192697"/>
            <a:ext cx="8915400" cy="5041194"/>
          </a:xfrm>
        </p:spPr>
        <p:txBody>
          <a:bodyPr>
            <a:noAutofit/>
          </a:bodyPr>
          <a:lstStyle/>
          <a:p>
            <a:pPr algn="just"/>
            <a:r>
              <a:rPr lang="en-US" dirty="0">
                <a:latin typeface="Arial" panose="020B0604020202020204" pitchFamily="34" charset="0"/>
                <a:cs typeface="Arial" panose="020B0604020202020204" pitchFamily="34" charset="0"/>
              </a:rPr>
              <a:t>The University Event Analytics System is a comprehensive tool that facilitates the gathering, processing, and visualization of various types of data pertaining to the events held on campus, like how many people attended and their behavioral patterns or feedback. At the moment, all the information is spread out across different departments and systems, which makes its collection and analysis quite problematic. With the help of automatic systems of registration, automatic counting of attendance by way of QR codes and RFID (Radio Frequency Identification) tags, and visual dashboards, the administration, faculty members, and student organizers will have all the necessary insight. Data from these sources is brought together through an ETL/ELT pipeline that extracts, cleans, and loads it into a structured warehouse for reliable analysis, while Apache Kafka handles the real-time streaming of attendance events as they occur during an event, and Redis is used to maintain fast, in-memory counters for live attendance tracking on the dashboards. This system makes use of Artificial Intelligence to help in the planning of future events using historical data and forecasting attendance for better distribution of venues and resources. It also employs Artificial Intelligence based sentiment analysis of feedback for measuring the level of satisfaction of students, automatically picking out what works and what does not, so that lessons from every event can directly contribute to the planning of the next one. This is designed to be scalable and versatile and can therefore easily be used.</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6226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392EC-C165-4EA7-999E-C31966A8AB0E}"/>
              </a:ext>
            </a:extLst>
          </p:cNvPr>
          <p:cNvSpPr>
            <a:spLocks noGrp="1"/>
          </p:cNvSpPr>
          <p:nvPr>
            <p:ph type="title"/>
          </p:nvPr>
        </p:nvSpPr>
        <p:spPr/>
        <p:txBody>
          <a:bodyPr>
            <a:normAutofit/>
          </a:bodyPr>
          <a:lstStyle/>
          <a:p>
            <a:r>
              <a:rPr lang="en-US" sz="2400" b="1" u="sng" dirty="0">
                <a:latin typeface="Arial" panose="020B0604020202020204" pitchFamily="34" charset="0"/>
                <a:cs typeface="Arial" panose="020B0604020202020204" pitchFamily="34" charset="0"/>
              </a:rPr>
              <a:t>INTRODUCTION:</a:t>
            </a:r>
            <a:endParaRPr lang="en-IN" sz="2400" b="1" u="sng"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8E40422-0449-435A-80BC-6F22F72DC8CF}"/>
              </a:ext>
            </a:extLst>
          </p:cNvPr>
          <p:cNvSpPr>
            <a:spLocks noGrp="1"/>
          </p:cNvSpPr>
          <p:nvPr>
            <p:ph idx="1"/>
          </p:nvPr>
        </p:nvSpPr>
        <p:spPr>
          <a:xfrm>
            <a:off x="2589212" y="1905001"/>
            <a:ext cx="8915400" cy="4469295"/>
          </a:xfrm>
        </p:spPr>
        <p:txBody>
          <a:bodyPr>
            <a:normAutofit/>
          </a:bodyPr>
          <a:lstStyle/>
          <a:p>
            <a:pPr algn="just"/>
            <a:r>
              <a:rPr lang="en-US" dirty="0">
                <a:latin typeface="Arial" panose="020B0604020202020204" pitchFamily="34" charset="0"/>
                <a:cs typeface="Arial" panose="020B0604020202020204" pitchFamily="34" charset="0"/>
              </a:rPr>
              <a:t>Universities conduct various kinds of activities during the academic year, but information such as registrations, attendances, and feedbacks is scattered among various departments and platforms, making it hard to analyze or apply the information to planning future events. The University Event Analytics System solves this challenge through a platform where event registration, attendances, and feedbacks are managed and analyzed in order to identify trends in the attendance and engagement of the events. The information provided enables the university administration to make informed decisions on how to increase the participation of the students. The system provides the capability to automate report generation in order to provide accurate and real-time reports to the institution and accreditation bodies. Furthermore, the system helps to enhance the engagement of students in the events by suggesting relevant events according to the previous participation of each student.</a:t>
            </a:r>
          </a:p>
        </p:txBody>
      </p:sp>
    </p:spTree>
    <p:extLst>
      <p:ext uri="{BB962C8B-B14F-4D97-AF65-F5344CB8AC3E}">
        <p14:creationId xmlns:p14="http://schemas.microsoft.com/office/powerpoint/2010/main" val="44596820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117</TotalTime>
  <Words>485</Words>
  <Application>Microsoft Office PowerPoint</Application>
  <PresentationFormat>Widescreen</PresentationFormat>
  <Paragraphs>17</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Century Gothic</vt:lpstr>
      <vt:lpstr>Wingdings 3</vt:lpstr>
      <vt:lpstr>Wisp</vt:lpstr>
      <vt:lpstr>Department of Computer Science and Engineering  UNIVERSITY EVENT ANALYTICS PLATFORM  Review-1   </vt:lpstr>
      <vt:lpstr>OUTLINE:</vt:lpstr>
      <vt:lpstr>ABSTRACT:</vt:lpstr>
      <vt:lpstr>INTRODUCTION: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Computer Science and Engineering</dc:title>
  <dc:creator>MAMATHA K</dc:creator>
  <cp:lastModifiedBy>MAMATHA K</cp:lastModifiedBy>
  <cp:revision>10</cp:revision>
  <dcterms:created xsi:type="dcterms:W3CDTF">2026-08-14T04:47:03Z</dcterms:created>
  <dcterms:modified xsi:type="dcterms:W3CDTF">2026-08-17T06:52:19Z</dcterms:modified>
</cp:coreProperties>
</file>